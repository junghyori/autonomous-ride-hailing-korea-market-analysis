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21"/>
  </p:notesMasterIdLst>
  <p:sldIdLst>
    <p:sldId id="300" r:id="rId2"/>
    <p:sldId id="321" r:id="rId3"/>
    <p:sldId id="358" r:id="rId4"/>
    <p:sldId id="356" r:id="rId5"/>
    <p:sldId id="324" r:id="rId6"/>
    <p:sldId id="366" r:id="rId7"/>
    <p:sldId id="362" r:id="rId8"/>
    <p:sldId id="353" r:id="rId9"/>
    <p:sldId id="354" r:id="rId10"/>
    <p:sldId id="355" r:id="rId11"/>
    <p:sldId id="360" r:id="rId12"/>
    <p:sldId id="361" r:id="rId13"/>
    <p:sldId id="332" r:id="rId14"/>
    <p:sldId id="363" r:id="rId15"/>
    <p:sldId id="364" r:id="rId16"/>
    <p:sldId id="359" r:id="rId17"/>
    <p:sldId id="365" r:id="rId18"/>
    <p:sldId id="349" r:id="rId19"/>
    <p:sldId id="30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49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A20"/>
                </a:solidFill>
                <a:latin typeface="Arial"/>
              </a:defRPr>
            </a:pPr>
            <a:r>
              <a:rPr lang="en-US" sz="1300" b="1" i="0" u="none" strike="noStrike" dirty="0">
                <a:solidFill>
                  <a:srgbClr val="171A20"/>
                </a:solidFill>
                <a:latin typeface="Arial"/>
              </a:rPr>
              <a:t>Base Scenario -</a:t>
            </a:r>
            <a:r>
              <a:rPr lang="en-US" sz="1300" b="1" i="0" u="none" strike="noStrike" baseline="0" dirty="0">
                <a:solidFill>
                  <a:srgbClr val="171A20"/>
                </a:solidFill>
                <a:latin typeface="Arial"/>
              </a:rPr>
              <a:t> </a:t>
            </a:r>
            <a:r>
              <a:rPr lang="en-US" sz="1300" b="1" i="0" u="none" strike="noStrike" dirty="0">
                <a:solidFill>
                  <a:srgbClr val="171A20"/>
                </a:solidFill>
                <a:latin typeface="Arial"/>
              </a:rPr>
              <a:t>USD Millions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revenue ($M)</c:v>
                </c:pt>
              </c:strCache>
            </c:strRef>
          </c:tx>
          <c:spPr>
            <a:solidFill>
              <a:srgbClr val="E821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1A20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 (Y1, Phase 2 fare)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2750.5</c:v>
                </c:pt>
                <c:pt idx="1">
                  <c:v>550.1</c:v>
                </c:pt>
                <c:pt idx="2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C-6947-84B2-81A42D80B5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93C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9DB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93C4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68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nghyori/Autonomous-Ride-Hailing-Korea-Market-Analysis/blob/main/Autonomous%20Ride-Hailing%20Analysis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iae.co.kr/en/article/202511041532212306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ws.seoul.go.kr/traffic/archives/33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15065131/fileData.do?recommendDataYn=Y&amp;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ata.go.kr/data/15065131/fileData.do?recommendDataYn=Y&amp;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ews.seoul.go.kr/traffic/archives/1659" TargetMode="External"/><Relationship Id="rId4" Type="http://schemas.openxmlformats.org/officeDocument/2006/relationships/hyperlink" Target="https://www.data.go.kr/data/15065131/fileData.do?recommendDataYn=Y&amp;utm_source=chatgpt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ata.go.kr/data/15160181/fileData.do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ata.go.kr/data/15160181/fileData.d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ata.go.kr/data/15160181/fileData.do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seoul.go.kr/traffic/archives/165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15065131/fileData.do?recommendDataYn=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junghyori/Autonomous-Ride-Hailing-Korea-Market-Analysis/blob/main/Autonomous%20Ride-Hailing%20Analysis.ipynb" TargetMode="External"/><Relationship Id="rId4" Type="http://schemas.openxmlformats.org/officeDocument/2006/relationships/hyperlink" Target="https://news.seoul.go.kr/traffic/archives/1659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nghyori/Autonomous-Ride-Hailing-Korea-Market-Analysis/blob/main/Autonomous%20Ride-Hailing%20Analysis.ipyn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230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MARKET ANALYSIS</a:t>
            </a:r>
            <a:endParaRPr lang="en-US" sz="1300" dirty="0">
              <a:latin typeface="Articulat CF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13232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AUTONOMOUS RIDE-HAILING</a:t>
            </a:r>
            <a:endParaRPr lang="en-US" sz="5000" dirty="0">
              <a:latin typeface="Articulat CF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C7C9CC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Scenario-Based Opportunity Assessment of the South Korean Market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926080" cy="0"/>
          </a:xfrm>
          <a:prstGeom prst="line">
            <a:avLst/>
          </a:prstGeom>
          <a:noFill/>
          <a:ln w="25400">
            <a:solidFill>
              <a:srgbClr val="E82127"/>
            </a:solidFill>
            <a:prstDash val="solid"/>
          </a:ln>
        </p:spPr>
        <p:txBody>
          <a:bodyPr/>
          <a:lstStyle/>
          <a:p>
            <a:endParaRPr lang="en-KR">
              <a:latin typeface="Articulat CF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300" kern="0" spc="100" dirty="0">
                <a:solidFill>
                  <a:srgbClr val="9A9DA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September</a:t>
            </a:r>
            <a:r>
              <a:rPr lang="ko-KR" altLang="en-US" sz="1300" kern="0" spc="100" dirty="0">
                <a:solidFill>
                  <a:srgbClr val="9A9DA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</a:t>
            </a:r>
            <a:r>
              <a:rPr lang="en-US" altLang="ko-KR" sz="1300" kern="0" spc="100" dirty="0">
                <a:solidFill>
                  <a:srgbClr val="9A9DA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2026</a:t>
            </a:r>
          </a:p>
          <a:p>
            <a:pPr marL="0" indent="0">
              <a:buNone/>
            </a:pPr>
            <a:r>
              <a:rPr lang="en-US" altLang="ko-KR" sz="1300" kern="0" spc="100" dirty="0">
                <a:solidFill>
                  <a:srgbClr val="9A9DA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Jeonghyeon Lee</a:t>
            </a:r>
            <a:endParaRPr lang="en-US" sz="1300" dirty="0">
              <a:latin typeface="Articulat CF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5440680"/>
            <a:ext cx="10698480" cy="1097280"/>
          </a:xfrm>
          <a:prstGeom prst="roundRect">
            <a:avLst>
              <a:gd name="adj" fmla="val 4167"/>
            </a:avLst>
          </a:prstGeom>
          <a:solidFill>
            <a:srgbClr val="1F2229"/>
          </a:solidFill>
          <a:ln w="9525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KR">
              <a:latin typeface="Articulat CF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24560" y="5577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D9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code, raw data, and chart visualization can be found in </a:t>
            </a:r>
            <a:r>
              <a:rPr lang="en-US" sz="1300" b="1" u="sng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github.com/junghyori/Autonomous-Ride-Hailing-Korea-Market-Analysis</a:t>
            </a:r>
            <a:endParaRPr lang="en-US" sz="1300" dirty="0">
              <a:latin typeface="Articulat CF"/>
            </a:endParaRPr>
          </a:p>
        </p:txBody>
      </p:sp>
    </p:spTree>
    <p:extLst>
      <p:ext uri="{BB962C8B-B14F-4D97-AF65-F5344CB8AC3E}">
        <p14:creationId xmlns:p14="http://schemas.microsoft.com/office/powerpoint/2010/main" val="337246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Where This Analysis </a:t>
            </a:r>
            <a:r>
              <a:rPr lang="en-US" altLang="ko-KR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</a:t>
            </a: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0020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Purpose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00200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The problem this service would solve, and for whom, phase by phase.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 txBox="1"/>
          <p:nvPr/>
        </p:nvSpPr>
        <p:spPr>
          <a:xfrm>
            <a:off x="548640" y="2386584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8658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Opportunity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86584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Sizing the Korea market with a TAM → SAM → SOM framework.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548640" y="317296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729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172968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 three-phase rollout sequenced by real demand and seasonality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67912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548640" y="395935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5935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Price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9593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 fare model that moves from adoption to monetization.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54296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548640" y="474573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74573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Open Questions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74573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What isn't proven yet, and what we'd need to learn next.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605272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548640" y="57332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Appendix — Data Sources &amp; Methodology, Grid-Code Mapping, and Backup Charts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02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310981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01 · 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The Problem, and Who Feels It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1328881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Problem: </a:t>
            </a:r>
            <a:r>
              <a:rPr lang="en-US" sz="13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Korea's taxi industry faces a rapidly aging driver base and a well-documented late-night supply crunch, concentrated in a capital region of roughly 26 million people.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50942" y="1309422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Solution: </a:t>
            </a:r>
            <a:r>
              <a:rPr lang="en-US" sz="13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Autonomous ride-hailing adds scalable, technology-driven capacity — deployed on high-demand, well-mapped routes — that fills the gap without depending on new human drivers.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441236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 txBox="1"/>
          <p:nvPr/>
        </p:nvSpPr>
        <p:spPr>
          <a:xfrm>
            <a:off x="546100" y="25601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WHY - DATA 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1001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 txBox="1"/>
          <p:nvPr/>
        </p:nvSpPr>
        <p:spPr>
          <a:xfrm>
            <a:off x="731520" y="3030729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75%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87929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of Seoul’s 70K taxi drivers are aged 60 or older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72561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/>
              </a:rPr>
              <a:t>Seoul (Private) Taxi Association data, 2025, via Asia Business Daily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5140" y="2921001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4478020" y="3030729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~26M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478020" y="3487929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people live across Seoul + Gyeonggi + Incheon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(the capital area)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78020" y="3972561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Statistics Korea (KOSIS), 2025 regional population estimate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34022" y="2928113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216902" y="3037841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~14K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16902" y="349504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KR" sz="1100" dirty="0"/>
              <a:t>Overall taxi complaints hit 14K in 2025 </a:t>
            </a:r>
          </a:p>
          <a:p>
            <a:pPr>
              <a:lnSpc>
                <a:spcPct val="115000"/>
              </a:lnSpc>
            </a:pPr>
            <a:r>
              <a:rPr lang="en-KR" sz="1100" dirty="0"/>
              <a:t>— the highest since 2022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16902" y="397967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Seoul Metropolitan Government, Transportation Complaint Statistics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6100" y="4587949"/>
            <a:ext cx="1106424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46100" y="4724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FOR WHOM — BY PHASE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6809" y="5091886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729689" y="520161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1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9689" y="545764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Tech-savvy professionals, corporate travelers, and airport shuttle riders — predictable routes, controlled environments.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5140" y="5079492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4478020" y="51892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478020" y="54452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General urban commuters in core Seoul districts — Gangnam, Hongdae, Yeouido.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3471" y="5070253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8226351" y="517998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3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26351" y="5436013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Mass-market commuters across the full capital corridor — Seoul ↔ Gyeonggi/Incheon.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429251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02 ·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Market Sizing: TAM → SAM → SOM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1018" y="1207008"/>
            <a:ext cx="102084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Grounded in Python-based analysis</a:t>
            </a:r>
            <a:r>
              <a:rPr lang="en-US" sz="1250" baseline="30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(1)</a:t>
            </a: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of 2025 public taxi operations data from Korea's Ministry of Land, Infrastructure and Transport (</a:t>
            </a:r>
            <a:r>
              <a:rPr lang="en-US" sz="1250" dirty="0">
                <a:solidFill>
                  <a:srgbClr val="393C4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국토교통부</a:t>
            </a: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 Rides scale down from national volume to a realistic Year-1 pilot.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595360" cy="841248"/>
          </a:xfrm>
          <a:prstGeom prst="roundRect">
            <a:avLst>
              <a:gd name="adj" fmla="val 5435"/>
            </a:avLst>
          </a:prstGeom>
          <a:solidFill>
            <a:srgbClr val="171A2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77240" y="24048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National Taxi Trips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523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1,053M Trips/yr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72600" y="233172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All of Korea, 2025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6188659" cy="841248"/>
          </a:xfrm>
          <a:prstGeom prst="roundRect">
            <a:avLst>
              <a:gd name="adj" fmla="val 5435"/>
            </a:avLst>
          </a:prstGeom>
          <a:solidFill>
            <a:srgbClr val="8A8D9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777240" y="3319272"/>
            <a:ext cx="57314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TAM — Capital Area Trips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66744"/>
            <a:ext cx="5731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304M Trips/yr (29% of National)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22640" y="3246120"/>
            <a:ext cx="346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TAM</a:t>
            </a:r>
            <a:r>
              <a:rPr lang="en-US" sz="1050" b="1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= Total Addressable Market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Seoul + Gyeonggi + Incheon Annual Taxi Trips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(Data-Derived)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953866" cy="841248"/>
          </a:xfrm>
          <a:prstGeom prst="roundRect">
            <a:avLst>
              <a:gd name="adj" fmla="val 5435"/>
            </a:avLst>
          </a:prstGeom>
          <a:solidFill>
            <a:srgbClr val="E82127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777240" y="4233672"/>
            <a:ext cx="34966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SAM — AV Suitable Trips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81144"/>
            <a:ext cx="3496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30.4M – 106.5M Trips/yr (10–35%)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22640" y="4160520"/>
            <a:ext cx="346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SAM </a:t>
            </a:r>
            <a:r>
              <a:rPr lang="en-US" sz="1050" b="1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= Serviceable Addressable Market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TAM × Addressable Share for AV Suitable Trips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(Assumption Bracket — see Open Questions)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2123440" cy="841248"/>
          </a:xfrm>
          <a:prstGeom prst="roundRect">
            <a:avLst>
              <a:gd name="adj" fmla="val 5435"/>
            </a:avLst>
          </a:prstGeom>
          <a:solidFill>
            <a:srgbClr val="393C4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777240" y="5111496"/>
            <a:ext cx="2222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SOM – Year 1 </a:t>
            </a:r>
            <a:r>
              <a:rPr lang="en-US" sz="10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(Pilot Rides)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495544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270K – 3.3M Rides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22640" y="5074920"/>
            <a:ext cx="346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SOM </a:t>
            </a:r>
            <a:r>
              <a:rPr lang="en-US" sz="1050" b="1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= Serviceable Obtainable Market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Pilot Fleet × Trips/Vehicle/Day × Operating Days</a:t>
            </a: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(Assumption Bracket — see Open Questions)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3880" y="5870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TIMS, annual taxi-operating summary by municipality, 2025, via data.go.kr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/>
              </a:rPr>
              <a:t>dataset 15065131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04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(1) Full code, raw data, and every chart visualization can be found in </a:t>
            </a:r>
            <a:r>
              <a:rPr lang="en-US" sz="1000" b="1" u="sng" dirty="0" err="1">
                <a:solidFill>
                  <a:srgbClr val="E82127"/>
                </a:solidFill>
                <a:latin typeface="Articulat CF"/>
              </a:rPr>
              <a:t>github.com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/</a:t>
            </a:r>
            <a:r>
              <a:rPr lang="en-US" sz="1000" b="1" u="sng" dirty="0" err="1">
                <a:solidFill>
                  <a:srgbClr val="E82127"/>
                </a:solidFill>
                <a:latin typeface="Articulat CF"/>
              </a:rPr>
              <a:t>junghyori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99088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02 ·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Where National Taxi Demand Actually Sits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Seoul alone accounts for roughly a quarter of national taxi volume; </a:t>
            </a: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Adding Gyeonggi and Incheon brings the full capital area to ~29% of the country's annual trips — the geography this analysis treats as Total Addressable Market</a:t>
            </a:r>
            <a:endParaRPr lang="en-US" sz="1250" dirty="0"/>
          </a:p>
        </p:txBody>
      </p:sp>
      <p:pic>
        <p:nvPicPr>
          <p:cNvPr id="5" name="Image 0" descr="/home/claude/ppt/charts/regional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511" y="2183384"/>
            <a:ext cx="6610820" cy="3703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585367" y="5651500"/>
            <a:ext cx="53465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 annual taxi-operation summary by municipality, 2025, via data.go.kr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dataset 15065131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05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174169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9625EB-2078-8976-2B4A-92DB006F1A8E}"/>
              </a:ext>
            </a:extLst>
          </p:cNvPr>
          <p:cNvSpPr/>
          <p:nvPr/>
        </p:nvSpPr>
        <p:spPr>
          <a:xfrm>
            <a:off x="501650" y="5442984"/>
            <a:ext cx="11150600" cy="822960"/>
          </a:xfrm>
          <a:prstGeom prst="roundRect">
            <a:avLst/>
          </a:prstGeom>
          <a:solidFill>
            <a:srgbClr val="F4F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02 ·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Revenue Potential Across Scenarios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394960" cy="391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263640" y="1737360"/>
          <a:ext cx="5349240" cy="1828800"/>
        </p:xfrm>
        <a:graphic>
          <a:graphicData uri="http://schemas.openxmlformats.org/drawingml/2006/table">
            <a:tbl>
              <a:tblPr/>
              <a:tblGrid>
                <a:gridCol w="106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Scenario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SAM Share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Y1 Pilot Fleet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Y1 Rides (SOM)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Y1 Revenue (USD)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Low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10%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100 vehicles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270K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$2.0–2.4M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Base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20%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300 vehicles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1.4M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$10.2–12.2M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High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35%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500 vehicles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3.3M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$24.8–29.8M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58560" y="3834219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SAM (AV Suitable Market) Revenue Potential: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$275M (Low) – $550M (Base) – $96</a:t>
            </a:r>
            <a:r>
              <a:rPr lang="en-US" altLang="ko-KR" sz="12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</a:t>
            </a:r>
            <a:r>
              <a:rPr lang="en-US" sz="12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 (High)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at the realistic metered fare (≈KRW 12,200 / trip).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58560" y="4525099"/>
            <a:ext cx="5786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Revenue range reflects Phase 1 (KRW10,164 metered) → Phase 2 (KRW12,202 metered) fares</a:t>
            </a:r>
          </a:p>
          <a:p>
            <a:pPr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SOM assumes 10–20 trips/vehicle/day over 270–330 operating days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28650" y="5736418"/>
            <a:ext cx="11061700" cy="163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spc="1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METHODOLOGY</a:t>
            </a:r>
          </a:p>
          <a:p>
            <a:pPr marL="0" indent="0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Revenue (KRW) = Trips × Metered Fare/trip (₩10,164 Phase 1 / ₩12,202 Phase 2), based on ₩4,000 / ₩4,800 base fares (Phase 1 / Phase 2). </a:t>
            </a: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USD = KRW ÷ ~1,350 </a:t>
            </a:r>
          </a:p>
          <a:p>
            <a:pPr marL="0" indent="0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900" b="1" i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See Slide 14 for detailed base-fare logic. 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Sources: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TIMS, annual taxi-operating summary by municipality, 2025, via data.go.kr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dataset 15065131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); Seoul Metropolitan Government official fare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5"/>
              </a:rPr>
              <a:t>notice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,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06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273931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03-A · GO-TO-MARKET / ANNUAL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3-Phase Rollout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Each phase targets a specific user segment, corridor, and fleet scale — grounded in actual 2025 hub-level trip volumes and seasonality, building operational confidence before broadening. Demand evidence and detailed plan by each phase can be found from next slide.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4001008"/>
          </a:xfrm>
          <a:prstGeom prst="roundRect">
            <a:avLst>
              <a:gd name="adj" fmla="val 153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Months 0–6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Controlled Launch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56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Pangyo Station + Incheon Airport T1/T2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59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FLEET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611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100 vehicles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FARE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KRW 10,164 / trip (−16.7% of metered)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294376"/>
            <a:ext cx="310896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777240" y="5413248"/>
            <a:ext cx="3108960" cy="58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Predictable,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low-complexity routes with tolerant early adopters.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103120"/>
            <a:ext cx="3566160" cy="4001008"/>
          </a:xfrm>
          <a:prstGeom prst="roundRect">
            <a:avLst>
              <a:gd name="adj" fmla="val 1538"/>
            </a:avLst>
          </a:prstGeom>
          <a:solidFill>
            <a:srgbClr val="171A2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452628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FB1B4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Months 6–12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Urban Expansion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456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8D9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5E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Gangnam + Hongdae + Yeouido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059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8D9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FLEET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261104"/>
            <a:ext cx="3108960" cy="34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5E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300 vehicles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8D9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FARE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5E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KRW 12,202 / trip + 1.1–1.3x surge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26280" y="5294376"/>
            <a:ext cx="3108960" cy="0"/>
          </a:xfrm>
          <a:prstGeom prst="line">
            <a:avLst/>
          </a:prstGeom>
          <a:noFill/>
          <a:ln w="9525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4526280" y="5413248"/>
            <a:ext cx="3108960" cy="581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FB1B4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Highest-density Seoul corridors,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FB1B4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tests nightlife and B2B commuter use cases.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2103120"/>
            <a:ext cx="3566160" cy="4001008"/>
          </a:xfrm>
          <a:prstGeom prst="roundRect">
            <a:avLst>
              <a:gd name="adj" fmla="val 153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 txBox="1"/>
          <p:nvPr/>
        </p:nvSpPr>
        <p:spPr>
          <a:xfrm>
            <a:off x="827532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Months 12+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2953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Commercialization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4564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capital corridor (Seoul-Gyeonggi/Incheon)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0599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FLEET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2611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500+ vehicles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663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FARE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Subscriptions &amp; Passes + KRW 12,202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275320" y="5294376"/>
            <a:ext cx="310896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 txBox="1"/>
          <p:nvPr/>
        </p:nvSpPr>
        <p:spPr>
          <a:xfrm>
            <a:off x="8275320" y="5413248"/>
            <a:ext cx="3332480" cy="59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Mass-market scale-up with retention-oriented pricing.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07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  <p:sp>
        <p:nvSpPr>
          <p:cNvPr id="901" name="Base Fare Callout"/>
          <p:cNvSpPr txBox="1"/>
          <p:nvPr/>
        </p:nvSpPr>
        <p:spPr>
          <a:xfrm>
            <a:off x="10182576" y="6144768"/>
            <a:ext cx="1924757" cy="123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8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See Slide 14 for detailed base-fare logic. </a:t>
            </a:r>
          </a:p>
        </p:txBody>
      </p:sp>
    </p:spTree>
    <p:extLst>
      <p:ext uri="{BB962C8B-B14F-4D97-AF65-F5344CB8AC3E}">
        <p14:creationId xmlns:p14="http://schemas.microsoft.com/office/powerpoint/2010/main" val="67399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03-B · GO-TO-MARKET — DEMAND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Nationwide Demand Shows Seasonal Rhythm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National taxi trip volume dips in February and rises through mid-year, peaking around the summer and again at year-end.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This rhythm sets the macro timing behind the rollout — e.g., the December peak used to maximize Phase 3 fleet utilization.</a:t>
            </a:r>
            <a:endParaRPr lang="en-US" sz="1200" dirty="0"/>
          </a:p>
        </p:txBody>
      </p:sp>
      <p:pic>
        <p:nvPicPr>
          <p:cNvPr id="5" name="Image 0" descr="/home/claude/ppt/charts/chart1_nationwide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091" y="2148840"/>
            <a:ext cx="7759337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TIMS, 500m-grid monthly taxi operating statistics, 2025, via </a:t>
            </a:r>
            <a:r>
              <a:rPr lang="en-US" sz="850" i="1" dirty="0" err="1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data.go.kr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dataset 15160181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 </a:t>
            </a:r>
          </a:p>
          <a:p>
            <a:pPr marL="0" indent="0">
              <a:buNone/>
            </a:pP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 index = month / annual monthly average.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08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345275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03-B · GO-TO-MARKET — DEMAND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Hub-Level Volumes Set the Rollout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Gangnam and Hongdae carry the highest absolute trip volumes of the seven hubs studied — the core reason they anchor Phase 2.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Pangyo and the airport terminals run at a fraction of that volume, matching their role as a lower-risk Phase 1 proving ground.</a:t>
            </a:r>
            <a:endParaRPr lang="en-US" sz="1200" dirty="0"/>
          </a:p>
        </p:txBody>
      </p:sp>
      <p:pic>
        <p:nvPicPr>
          <p:cNvPr id="5" name="Image 0" descr="/home/claude/ppt/charts/chart2_hub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10" y="2148840"/>
            <a:ext cx="7751499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TIMS, 500m-grid monthly taxi operating statistics, 2025, via </a:t>
            </a:r>
            <a:r>
              <a:rPr lang="en-US" sz="850" i="1" dirty="0" err="1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data.go.kr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dataset 15160181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 </a:t>
            </a:r>
          </a:p>
          <a:p>
            <a:pPr marL="0" indent="0">
              <a:buNone/>
            </a:pP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Hub grid codes mapped per the Korea National Grid System — see Appendix.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09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1966284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03-B · GO-TO-MARKET — DEMAND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 Differs Hub by Hub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Incheon Airport T2 spikes to 1.24x in October (Chuseok travel), while Yeouido dips to 0.91x in September.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These hub-specific swings — not just the national average — drive the seasonal fleet-redeployment plan in Phase 3.</a:t>
            </a:r>
            <a:endParaRPr lang="en-US" sz="1200" dirty="0"/>
          </a:p>
        </p:txBody>
      </p:sp>
      <p:pic>
        <p:nvPicPr>
          <p:cNvPr id="5" name="Image 0" descr="/home/claude/ppt/charts/chart3_seasonal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034" y="2148840"/>
            <a:ext cx="7367451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TIMS, 500m-grid monthly taxi operating statistics, 2025, via data.go.kr (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/>
              </a:rPr>
              <a:t>dataset 15160181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</a:t>
            </a:r>
          </a:p>
          <a:p>
            <a:pPr marL="0" indent="0">
              <a:buNone/>
            </a:pP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Index of 1.00 = that hub's own annual monthly average.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10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289280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03-C · GO-TO-MARKET — 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Controlled Launch (Months 0–6)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Zones: Pangyo Station + Incheon Airport T1/T2   ·   Fleet: 100 vehicles   ·   Fare: KRW 10,164 (−16.7% vs. KRW 12,202 metered baseline)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Pangyo Station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125K trips / month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6207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Seasonality: 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Stable year-round (0.86–1.06 seasonality index)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941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Tech-savvy riders (IT cluster), predictable commute patterns, low traffic complexity.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159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354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Low absolute volume caps early revenue upside.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157216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WHY FIRST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7667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Low-risk proving ground for AV technology with tolerant early adopters.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492240" y="2148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Incheon Airport T1 / T2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328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T1: 103K · T2: 55K trips / month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6207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Seasonality: 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Sharp Chuseok peak — T2 hits 1.24x in October;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winter dip Jan–Feb (0.89x)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47472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6941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Fixed origin-destination (terminal to city center), controlled roads,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high fare per long-distance trip.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3159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5354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 spikes require flexible fleet sizing.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57216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WHY FIRST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376672"/>
            <a:ext cx="4714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High-value corridor with simple routing;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international travelers already have AV exposure.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3560" y="610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 play: launch in March–April, as demand rises from the February trough, to build operational confidence before the summer peak.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11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420792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03-C · GO-TO-MARKET — 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Urban Expansion (Months 6–12)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Zones: Gangnam + Hongdae + Yeouido   ·   Fleet: 300 vehicles   ·   Fare: KRW 12,202 + 1.1–1.3x mild surge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3794760"/>
          </a:xfrm>
          <a:prstGeom prst="roundRect">
            <a:avLst>
              <a:gd name="adj" fmla="val 15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Gangnam Station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243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193K trips/mo — highest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Seasonality: 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Peak in August (1.10x)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7588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Highest demand density, premium rider mix (business / entertainment).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7200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773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Complex traffic, narrow streets, high pedestrian density.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33672" y="1965960"/>
            <a:ext cx="3502152" cy="3794760"/>
          </a:xfrm>
          <a:prstGeom prst="roundRect">
            <a:avLst>
              <a:gd name="adj" fmla="val 15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44165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Hongdae Station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6243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195K trips/mo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29260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Seasonality: 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Peak in August (1.08x)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347472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367588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Comparable volume to Gangnam; strong nightlife demand.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457200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16552" y="4773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Late-night demand needs extended hours — safety/regulatory risk.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18704" y="1965960"/>
            <a:ext cx="3502152" cy="3794760"/>
          </a:xfrm>
          <a:prstGeom prst="roundRect">
            <a:avLst>
              <a:gd name="adj" fmla="val 156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8101584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Yeouido Station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01584" y="26243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123K trips/mo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101584" y="29260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Seasonality: </a:t>
            </a:r>
            <a:r>
              <a:rPr lang="en-US" sz="10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Volatile — Mar 1.08x, Sep 0.91x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47472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PROS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101584" y="367588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Business district with regular weekday commute demand.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101584" y="457200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01584" y="4773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Sharp September dip tied to vacation season; lower weekend demand.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3880" y="57378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Seasonality play: time Phase 2 launch for May–June to capture the Jul–Aug summer peak (1.03–1.10 index) across all three hubs.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Volume across these hubs justifies fleet expansion once the tech is proven in Phase 1.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12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427771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03-C · GO-TO-MARKET — PHASE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Commercialization (Months 12+)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39" y="1417320"/>
            <a:ext cx="11285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Zones: Full capital corridor (Seoul/Gyeonggi/Incheon)   ·   Fleet: 500+ vehicles   ·   Model: Subscriptions &amp; Passes / Fare: KRW 12,202 + 1.1–1.3x mild surge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Seoul Station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178K trips / month · steady (0.92–1.06 seasonality)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1" y="28803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Major transit interchange connecting KTX and subway — steady demand,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But congested pickup zones require multi-modal coordination.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492240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Cross-Corridor Expansion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146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Gyeonggi / Incheon: 59.4M trips / year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803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Massive untapped volume with simpler suburban road conditions, offset by longer trip distances (higher per-trip cost) and sparse off-peak demand.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71A20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822960" y="4709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RETENTION &amp; FLEET BALANCING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Retention: </a:t>
            </a:r>
            <a:r>
              <a:rPr lang="en-US" sz="1100" dirty="0">
                <a:solidFill>
                  <a:srgbClr val="C7C9CC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Monthly commuting passes (Pangyo ↔ Gangnam, Airport ↔ Seoul), fixed-route shuttles, and tiered/premium options.
</a:t>
            </a:r>
            <a:r>
              <a:rPr lang="en-US" sz="11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Seasonal balancing: </a:t>
            </a:r>
            <a:r>
              <a:rPr lang="en-US" sz="1100" dirty="0">
                <a:solidFill>
                  <a:srgbClr val="C7C9CC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Use the October airport surge (T2: 1.24x) and December national peak (1.06x) to maximize utilization; redeploy vehicles from Yeouido (Sep dip: 0.91x) to airport routes during Chuseok.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13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380457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70D85B2-C4B8-2240-B907-32234ADD1B5F}"/>
              </a:ext>
            </a:extLst>
          </p:cNvPr>
          <p:cNvSpPr/>
          <p:nvPr/>
        </p:nvSpPr>
        <p:spPr>
          <a:xfrm>
            <a:off x="501650" y="5470522"/>
            <a:ext cx="11150600" cy="1003430"/>
          </a:xfrm>
          <a:prstGeom prst="roundRect">
            <a:avLst/>
          </a:prstGeom>
          <a:solidFill>
            <a:srgbClr val="F4F1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04 · PRICE LOGIC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3-Phase Fare Progression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Anchored to a realistic metered fare (KRW 12,202/trip) — derived from actual Seoul trip data using the standard fare structure, not the KRW 4,800 base rate alone — pricing runs from penetration to monetization.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1"/>
            <a:ext cx="3566160" cy="3184522"/>
          </a:xfrm>
          <a:prstGeom prst="roundRect">
            <a:avLst>
              <a:gd name="adj" fmla="val 153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1 — Market Entry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0–6 MONTHS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626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KRW 10,164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−16.7% vs. metered fare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822192"/>
            <a:ext cx="310896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777240" y="39136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SURGE / MODEL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14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Flat, no surge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87554"/>
            <a:ext cx="3108960" cy="669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Lower adoption barriers;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secure initial trial volume with upfront flat quotes that remove surcharge anxiety.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03121"/>
            <a:ext cx="3566160" cy="3184522"/>
          </a:xfrm>
          <a:prstGeom prst="roundRect">
            <a:avLst>
              <a:gd name="adj" fmla="val 1538"/>
            </a:avLst>
          </a:prstGeom>
          <a:solidFill>
            <a:srgbClr val="FBEBE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4526280" y="2286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2 — Stabilization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9626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KRW 12,202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metered fare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822192"/>
            <a:ext cx="310896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4526280" y="39136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SURGE / MODEL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114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Mild 1.1x–1.3x at peak / bad weather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22470" y="4224527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Reach fare parity with standard taxis;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optimize fleet efficiency during peak windows.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2103121"/>
            <a:ext cx="3566160" cy="3184522"/>
          </a:xfrm>
          <a:prstGeom prst="roundRect">
            <a:avLst>
              <a:gd name="adj" fmla="val 153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8275320" y="2286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3 — Expansion &amp; Retention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12+ MONTHS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9626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Sub + KRW 12,202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Passes &amp; tiers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3822192"/>
            <a:ext cx="3108960" cy="0"/>
          </a:xfrm>
          <a:prstGeom prst="line">
            <a:avLst/>
          </a:prstGeom>
          <a:noFill/>
          <a:ln w="9525">
            <a:solidFill>
              <a:srgbClr val="D8D9D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8275320" y="39136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A9C9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SURGE / MODEL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256213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Bundled / Tiered</a:t>
            </a:r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Mild 1.1x–1.3x at peak / bad weather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63382" y="4382953"/>
            <a:ext cx="3151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Maximize lifetime value with monthly passes,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fixed-route shuttle packages, and premium options for frequent riders.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9201" y="5504686"/>
            <a:ext cx="11064240" cy="96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spc="8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METHODOLOGY</a:t>
            </a:r>
            <a:endParaRPr lang="en-US" sz="1000" spc="80" dirty="0">
              <a:solidFill>
                <a:schemeClr val="tx1">
                  <a:lumMod val="65000"/>
                  <a:lumOff val="35000"/>
                </a:schemeClr>
              </a:solidFill>
              <a:latin typeface="Articulat CF" pitchFamily="34" charset="0"/>
              <a:ea typeface="Articulat CF" pitchFamily="34" charset="-122"/>
              <a:cs typeface="Articulat CF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Phase 1 discount = 1 − (₩4,000 ÷ ₩4,800) = 16.7%, applied to the metered fare: ₩12,202 × (1−16.7%) = ₩10,164</a:t>
            </a:r>
          </a:p>
          <a:p>
            <a:pPr>
              <a:lnSpc>
                <a:spcPct val="1150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Fare Structure : ₩4,800 base (first 1.6km) + ₩100/131m distance + ₩100/30sec time (below 15.72km/h) + night surcharge (22:00–04:00: +20–40%) → avg trip (8.8km, 19min) blends to ₩12,202</a:t>
            </a:r>
          </a:p>
          <a:p>
            <a:pPr>
              <a:lnSpc>
                <a:spcPct val="115000"/>
              </a:lnSpc>
            </a:pP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rticulat CF" pitchFamily="34" charset="0"/>
              <a:ea typeface="Articulat CF" pitchFamily="34" charset="-122"/>
              <a:cs typeface="Articulat CF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Seoul Metropolitan Government official fare notice, </a:t>
            </a:r>
            <a:r>
              <a:rPr lang="en-US" sz="850" i="1" u="sng" dirty="0">
                <a:solidFill>
                  <a:srgbClr val="B0161B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news.seoul.go.kr/traffic/archives/1659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14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995744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05 · OPEN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What We Would Not Claim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731520" y="17007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Regulatory &amp; Legal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6654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Realistic timeline for Level 4 AV permits on Seoul municipal roads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How insurance and liability would be structured, and at what premium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33672" y="155448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 txBox="1"/>
          <p:nvPr/>
        </p:nvSpPr>
        <p:spPr>
          <a:xfrm>
            <a:off x="4416552" y="17007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Consumer &amp; Demand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206654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Actual willingness to ride driverless — stated vs. revealed preference gaps are large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Effect of monsoon season and winter ice on uptime and rider acceptance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18704" y="155448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8101584" y="17007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01584" y="206654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How Kakao Mobility, Tmap, and taxi cooperatives would respond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Whether other AV operators are targeting the same corridors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731520" y="426110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Operational &amp; Financial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62686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Realistic per-vehicle cost (CAPEX + maintenance + monitoring) vs. driver labor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Achievable Year-1 utilization — our 10–20 trips/day range is assumed, not measured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Fleet scale (100–500 vehicles by Month 12) is faster than how Waymo scaled: ~3 years post-launch (Phoenix, 2020) to reach ~700 vehicles across two metro areas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33672" y="411480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416552" y="426110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Data Limitations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4626864"/>
            <a:ext cx="28242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2025 data reflects human-driven patterns; AV routing/demand may differ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Addressable share (10–35%) is an assumption bracket, not a regulatory assessment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MOLIT TIMS trip counts haven't been cross-validated against other published ridership benchmarks — treat absolute levels as directional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15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  <p:sp>
        <p:nvSpPr>
          <p:cNvPr id="20" name="Shape 18"/>
          <p:cNvSpPr/>
          <p:nvPr/>
        </p:nvSpPr>
        <p:spPr>
          <a:xfrm>
            <a:off x="7924800" y="4114800"/>
            <a:ext cx="3502152" cy="2423160"/>
          </a:xfrm>
          <a:prstGeom prst="roundRect">
            <a:avLst>
              <a:gd name="adj" fmla="val 2264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8102600" y="4267200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Labor &amp; Union Opposition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02600" y="4622800"/>
            <a:ext cx="282422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Korean taxi driver unions have organized large-scale protests against ride-hailing entrants before (e.g., Tada, 2019-2020)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No union response, stakeholder engagement, or driver-transition plan is modeled in this analysis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Regulatory timeline could shift materially if organized opposition escalates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12901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APPENDIX · 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Data Sources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A. Primary Dataset — Taxi Operating Statistics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Ministry of Land, Infrastructure and Transport (MOLIT, </a:t>
            </a:r>
            <a:r>
              <a:rPr lang="ko-KR" altLang="en-US" sz="1100" dirty="0">
                <a:solidFill>
                  <a:srgbClr val="393C41"/>
                </a:solidFill>
                <a:latin typeface="+mn-ea"/>
                <a:cs typeface="Articulat CF" pitchFamily="34" charset="-120"/>
              </a:rPr>
              <a:t>국토교통부</a:t>
            </a: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 — Taxi Operation Information Management System (TIMS), via Korea’s Public Data Portal.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Two datasets are used: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Annual summary by municipality</a:t>
            </a: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(dataset 15065131): </a:t>
            </a:r>
            <a:r>
              <a:rPr lang="en-US" sz="1100" b="1" u="sng" dirty="0">
                <a:solidFill>
                  <a:srgbClr val="B0161B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data.go.kr/data/15065131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500m-grid monthly detail</a:t>
            </a: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(dataset 15160181): </a:t>
            </a:r>
            <a:r>
              <a:rPr lang="en-US" sz="1100" b="1" u="sng" dirty="0">
                <a:solidFill>
                  <a:srgbClr val="B0161B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data.go.kr/data/15160181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B. Taxi Fare Reference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60000"/>
            <a:ext cx="10515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Seoul standard taxi fare (₩4,800 base + distance/time/night surcharges), per an official Seoul Metropolitan Government notice. Revenue uses a derived metered fare (₩12,202/trip), not the ₩4,800 base rate alone: </a:t>
            </a:r>
            <a:r>
              <a:rPr lang="en-US" sz="1100" b="1" u="sng" dirty="0">
                <a:solidFill>
                  <a:srgbClr val="B0161B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news.seoul.go.kr/traffic/archives/1659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16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B1CC90F5-6BFD-46C4-59C7-E9B140B1CAC1}"/>
              </a:ext>
            </a:extLst>
          </p:cNvPr>
          <p:cNvSpPr/>
          <p:nvPr/>
        </p:nvSpPr>
        <p:spPr>
          <a:xfrm>
            <a:off x="543560" y="46685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719C359-74BC-27FE-EF67-888FFD86E3E5}"/>
              </a:ext>
            </a:extLst>
          </p:cNvPr>
          <p:cNvSpPr txBox="1"/>
          <p:nvPr/>
        </p:nvSpPr>
        <p:spPr>
          <a:xfrm>
            <a:off x="817880" y="4851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C. Full Analysis Notebook — Every Figure, Formula &amp; Code</a:t>
            </a:r>
            <a:endParaRPr lang="en-US" sz="135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3EBB1BE-20CA-3CC5-A5A5-1EF067E2F45B}"/>
              </a:ext>
            </a:extLst>
          </p:cNvPr>
          <p:cNvSpPr txBox="1"/>
          <p:nvPr/>
        </p:nvSpPr>
        <p:spPr>
          <a:xfrm>
            <a:off x="817880" y="5217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This entire analysis — the raw data pull, every formula, every chart shown in this deck (and a few not shown), and the full Python code — is reproducible from the public Jupyter notebook: </a:t>
            </a:r>
            <a:r>
              <a:rPr lang="en-US" sz="1100" b="1" u="sng" dirty="0">
                <a:solidFill>
                  <a:srgbClr val="B0161B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github.com/junghyori/Autonomous-Ride-Hailing-Korea-Market-Analysis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506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APPENDIX · GRID CODE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How Grid Codes Map to Real Locations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The Korea National Grid System (KNGS, </a:t>
            </a:r>
            <a:r>
              <a:rPr lang="en-US" sz="1200" dirty="0" err="1">
                <a:solidFill>
                  <a:srgbClr val="393C4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국가지점번호</a:t>
            </a: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 divides all of South Korea into 100 km × 100 km cells, each labeled with a two-character Korean syllable code (e.g., </a:t>
            </a:r>
            <a:r>
              <a:rPr lang="en-US" sz="1200" b="1" dirty="0" err="1">
                <a:solidFill>
                  <a:srgbClr val="171A2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다사</a:t>
            </a:r>
            <a:r>
              <a:rPr lang="en-US" sz="1200" dirty="0" err="1">
                <a:solidFill>
                  <a:srgbClr val="393C4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,</a:t>
            </a:r>
            <a:r>
              <a:rPr lang="en-US" sz="1200" b="1" dirty="0" err="1">
                <a:solidFill>
                  <a:srgbClr val="171A2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마라</a:t>
            </a: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 Each 100 km cell is further divided into 500 m × 500 m sub-grids, indexed by a six-digit X/Y coordinate (e.g., </a:t>
            </a:r>
            <a:r>
              <a:rPr lang="en-US" sz="12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014078</a:t>
            </a: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). A full code such as </a:t>
            </a:r>
            <a:r>
              <a:rPr lang="en-US" sz="1200" b="1" dirty="0">
                <a:solidFill>
                  <a:srgbClr val="E82127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Articulat CF" pitchFamily="34" charset="-120"/>
              </a:rPr>
              <a:t>다사014078</a:t>
            </a:r>
            <a:r>
              <a:rPr lang="en-US" sz="1200" dirty="0">
                <a:solidFill>
                  <a:srgbClr val="393C4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 therefore uniquely identifies one 500 m × 500 m cell in Korea — the level of detail used to define each demand hub in this analysis.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02666"/>
              </p:ext>
            </p:extLst>
          </p:nvPr>
        </p:nvGraphicFramePr>
        <p:xfrm>
          <a:off x="548640" y="2606040"/>
          <a:ext cx="11064240" cy="2977288"/>
        </p:xfrm>
        <a:graphic>
          <a:graphicData uri="http://schemas.openxmlformats.org/drawingml/2006/table">
            <a:tbl>
              <a:tblPr/>
              <a:tblGrid>
                <a:gridCol w="2471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Grid code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Mapped location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Hub used in this analysis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다사014078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Incheon Int'l Airport Terminal 1 area (Yeongjong-do)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Incheon Airport T1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다사011083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Incheon Int'l Airport Terminal 2 area (Yeongjong-do)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Incheon Airport T2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마라080162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Gangnam / Sinnonhyeon Station area (Gangnam-gu, Seoul)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Gangnam Station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다사106101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Hongik Univ. / Hapjeong Station area (Mapo-gu, Seoul)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Hongdae Station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다사116089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Yeouido / National Assembly Station area (Yeongdeungpo-gu, Seoul)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Yeouido Station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마마003130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Seoul Station / Gwanghwamun area (Jung-gu, Seoul)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Seoul Station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1A2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Articulat CF" pitchFamily="34" charset="-120"/>
                        </a:rPr>
                        <a:t>마라078158</a:t>
                      </a:r>
                      <a:endParaRPr lang="en-US" sz="1100" dirty="0">
                        <a:latin typeface="MS Gothic" panose="020B0609070205080204" pitchFamily="49" charset="-128"/>
                        <a:ea typeface="MS Gothic" panose="020B0609070205080204" pitchFamily="49" charset="-128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Seongnam, Gyeonggi-do (same 100km cell as Gangnam, SE of central Seoul)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3C41"/>
                          </a:solidFill>
                          <a:latin typeface="Articulat CF" pitchFamily="34" charset="0"/>
                          <a:ea typeface="Articulat CF" pitchFamily="34" charset="-122"/>
                          <a:cs typeface="Articulat CF" pitchFamily="34" charset="-120"/>
                        </a:rPr>
                        <a:t>Pangyo Station</a:t>
                      </a:r>
                      <a:endParaRPr lang="en-US" sz="1100" dirty="0">
                        <a:latin typeface="Articulat CF" charset="0"/>
                        <a:ea typeface="Articulat CF" charset="0"/>
                        <a:cs typeface="Articulat CF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658440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3560" y="57334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National Geographic Information Institute (NGII) grid-lookup service, map.ngii.go.kr, and the V-World national spatial data portal, map.vworld.kr.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17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950533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APPENDIX · BACKUP CHART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TAM → SAM → SOM Calculation Detail</a:t>
            </a:r>
            <a:endParaRPr lang="en-US" sz="3000" dirty="0"/>
          </a:p>
        </p:txBody>
      </p:sp>
      <p:pic>
        <p:nvPicPr>
          <p:cNvPr id="4" name="Image 0" descr="/home/claude/ppt/charts/formul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195" y="1508760"/>
            <a:ext cx="4782571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6100" y="59618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Source: </a:t>
            </a:r>
            <a:r>
              <a:rPr lang="en-US" sz="850" i="1" dirty="0">
                <a:solidFill>
                  <a:srgbClr val="6B6E73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Reproduced directly from the analysis notebook; underlying figures from MOLIT TIMS, 2025, via data.go.kr.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AFA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19</a:t>
            </a:r>
            <a:endParaRPr lang="en-US" sz="1000" dirty="0"/>
          </a:p>
        </p:txBody>
      </p:sp>
      <p:sp>
        <p:nvSpPr>
          <p:cNvPr id="900" name="Footnote GitHub"/>
          <p:cNvSpPr txBox="1"/>
          <p:nvPr/>
        </p:nvSpPr>
        <p:spPr>
          <a:xfrm>
            <a:off x="546100" y="6680200"/>
            <a:ext cx="110617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8A8D91"/>
                </a:solidFill>
                <a:latin typeface="Articulat CF"/>
              </a:rPr>
              <a:t>Full code, raw data, and every chart visualization can be found in </a:t>
            </a:r>
            <a:r>
              <a:rPr lang="en-US" sz="1000" b="1" u="sng" dirty="0">
                <a:solidFill>
                  <a:srgbClr val="E82127"/>
                </a:solidFill>
                <a:latin typeface="Articulat CF"/>
              </a:rPr>
              <a:t>github.com/junghyori/Autonomous-Ride-Hailing-Korea-Market-Analysis</a:t>
            </a:r>
          </a:p>
        </p:txBody>
      </p:sp>
    </p:spTree>
    <p:extLst>
      <p:ext uri="{BB962C8B-B14F-4D97-AF65-F5344CB8AC3E}">
        <p14:creationId xmlns:p14="http://schemas.microsoft.com/office/powerpoint/2010/main" val="1352880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9CC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Autonomous Ride-Hailing — Korea Market Opportunity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754880"/>
            <a:ext cx="10698480" cy="1417320"/>
          </a:xfrm>
          <a:prstGeom prst="roundRect">
            <a:avLst>
              <a:gd name="adj" fmla="val 3226"/>
            </a:avLst>
          </a:prstGeom>
          <a:solidFill>
            <a:srgbClr val="1F2229"/>
          </a:solidFill>
          <a:ln w="9525">
            <a:solidFill>
              <a:srgbClr val="33363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 txBox="1"/>
          <p:nvPr/>
        </p:nvSpPr>
        <p:spPr>
          <a:xfrm>
            <a:off x="960120" y="489204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D91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</a:rPr>
              <a:t>Full code, raw data, and chart visualization can be found in </a:t>
            </a:r>
            <a:r>
              <a:rPr lang="en-US" sz="1300" b="1" u="sng" dirty="0">
                <a:solidFill>
                  <a:srgbClr val="E82127"/>
                </a:solidFill>
                <a:latin typeface="Articulat CF" pitchFamily="34" charset="0"/>
                <a:ea typeface="Articulat CF" pitchFamily="34" charset="-122"/>
                <a:cs typeface="Articulat CF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github.com/junghyori/Autonomous-Ride-Hailing-Korea-Market-Analysis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8713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8178093237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ticulat CF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ticulat CF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91FF48-F137-9645-937B-7CD913B40E08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ecd301db-9154-4243-9fd8-7599a99e4a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3239</Words>
  <Application>Microsoft Macintosh PowerPoint</Application>
  <PresentationFormat>Widescreen</PresentationFormat>
  <Paragraphs>377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MS Gothic</vt:lpstr>
      <vt:lpstr>Arial</vt:lpstr>
      <vt:lpstr>Articulat CF</vt:lpstr>
      <vt:lpstr>Office Theme [1788178093237]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Lee, Jeonghyeon</cp:lastModifiedBy>
  <cp:revision>11</cp:revision>
  <dcterms:created xsi:type="dcterms:W3CDTF">2026-08-31T01:51:47Z</dcterms:created>
  <dcterms:modified xsi:type="dcterms:W3CDTF">2026-09-01T09:48:43Z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2026-08-31T12:04:05Z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cadd295a-0b0c-4897-a720-94ca0573000c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